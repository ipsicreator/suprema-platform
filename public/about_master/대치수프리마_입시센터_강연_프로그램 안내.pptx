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7" r:id="rId8"/>
    <p:sldId id="265" r:id="rId9"/>
    <p:sldId id="263" r:id="rId10"/>
    <p:sldId id="266" r:id="rId11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49" d="100"/>
          <a:sy n="49" d="100"/>
        </p:scale>
        <p:origin x="23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339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84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83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11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756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819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46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96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97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820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004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55799-7D05-4CF7-8120-4A844C40AB6E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CB8C6-BAB5-4677-A1B7-1B9CB7491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956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1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1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22ECF9-66FD-4D18-A646-094BF672F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412" y="4378188"/>
            <a:ext cx="5080261" cy="17780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59C656-E976-4A1B-9F93-F86623374564}"/>
              </a:ext>
            </a:extLst>
          </p:cNvPr>
          <p:cNvSpPr txBox="1"/>
          <p:nvPr/>
        </p:nvSpPr>
        <p:spPr>
          <a:xfrm>
            <a:off x="687977" y="7242073"/>
            <a:ext cx="108160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</a:t>
            </a:r>
            <a:r>
              <a:rPr lang="en-US" altLang="ko-KR" sz="66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66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프로그램 안내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1C2B3-E60F-4DEB-B7B4-B2EF9EC84939}"/>
              </a:ext>
            </a:extLst>
          </p:cNvPr>
          <p:cNvSpPr txBox="1"/>
          <p:nvPr/>
        </p:nvSpPr>
        <p:spPr>
          <a:xfrm>
            <a:off x="2521132" y="14511589"/>
            <a:ext cx="7798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2025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  </a:t>
            </a:r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7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3109689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22ECF9-66FD-4D18-A646-094BF672F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81" y="604949"/>
            <a:ext cx="2788326" cy="975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59C656-E976-4A1B-9F93-F86623374564}"/>
              </a:ext>
            </a:extLst>
          </p:cNvPr>
          <p:cNvSpPr txBox="1"/>
          <p:nvPr/>
        </p:nvSpPr>
        <p:spPr>
          <a:xfrm>
            <a:off x="2860765" y="682582"/>
            <a:ext cx="93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</a:t>
            </a:r>
            <a:r>
              <a:rPr lang="en-US" altLang="ko-KR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프로그램 안내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1C2B3-E60F-4DEB-B7B4-B2EF9EC84939}"/>
              </a:ext>
            </a:extLst>
          </p:cNvPr>
          <p:cNvSpPr txBox="1"/>
          <p:nvPr/>
        </p:nvSpPr>
        <p:spPr>
          <a:xfrm>
            <a:off x="0" y="2308644"/>
            <a:ext cx="121920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설명회 </a:t>
            </a:r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  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강연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662AC89-4B4C-4F94-9E75-60990AA0B826}"/>
              </a:ext>
            </a:extLst>
          </p:cNvPr>
          <p:cNvCxnSpPr>
            <a:cxnSpLocks/>
          </p:cNvCxnSpPr>
          <p:nvPr/>
        </p:nvCxnSpPr>
        <p:spPr>
          <a:xfrm>
            <a:off x="0" y="1763486"/>
            <a:ext cx="12192000" cy="0"/>
          </a:xfrm>
          <a:prstGeom prst="line">
            <a:avLst/>
          </a:prstGeom>
          <a:ln w="5715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1ADEBD2-EE3B-431B-9CC6-7638AE6DACA8}"/>
              </a:ext>
            </a:extLst>
          </p:cNvPr>
          <p:cNvSpPr txBox="1"/>
          <p:nvPr/>
        </p:nvSpPr>
        <p:spPr>
          <a:xfrm>
            <a:off x="1724296" y="5342708"/>
            <a:ext cx="9117876" cy="10379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대상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중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2~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중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 </a:t>
            </a: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핵심주제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대입성공을 위한 슬기로운 고교선택</a:t>
            </a:r>
            <a:endParaRPr lang="en-US" altLang="ko-KR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설명회 상세내용</a:t>
            </a:r>
            <a:endParaRPr lang="en-US" altLang="ko-KR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endParaRPr lang="ko-KR" altLang="en-US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고교학점제는 무엇인가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2. 2028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수능개편의 핵심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=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통합수능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통합사회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통합과학 예시문항 분석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고교 선택의 핵심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= SKY,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상위권 대학 합격 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4. </a:t>
            </a:r>
            <a:r>
              <a:rPr lang="ko-KR" altLang="en-US" sz="28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전사고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특목고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지역 </a:t>
            </a:r>
            <a:r>
              <a:rPr lang="ko-KR" altLang="en-US" sz="28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명문고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등 </a:t>
            </a:r>
            <a:r>
              <a:rPr lang="ko-KR" altLang="en-US" sz="28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유불리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분석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5.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지역 학교 분석 및 학교선택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6.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질의 응답</a:t>
            </a:r>
          </a:p>
          <a:p>
            <a:pPr>
              <a:lnSpc>
                <a:spcPct val="150000"/>
              </a:lnSpc>
            </a:pPr>
            <a:endParaRPr lang="ko-KR" altLang="en-US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소요시간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60~90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분 내외 </a:t>
            </a:r>
          </a:p>
          <a:p>
            <a:pPr>
              <a:lnSpc>
                <a:spcPct val="150000"/>
              </a:lnSpc>
            </a:pPr>
            <a:endParaRPr lang="ko-KR" altLang="en-US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자료집 제공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고교학점제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+2028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수능 개편안</a:t>
            </a: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6CCCC733-00EC-4F52-B09C-2064FFFA42D3}"/>
              </a:ext>
            </a:extLst>
          </p:cNvPr>
          <p:cNvSpPr/>
          <p:nvPr/>
        </p:nvSpPr>
        <p:spPr>
          <a:xfrm rot="5400000">
            <a:off x="1558785" y="3957956"/>
            <a:ext cx="1092428" cy="819398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1DC4F8-DDE2-4A86-BA02-23303EE934E4}"/>
              </a:ext>
            </a:extLst>
          </p:cNvPr>
          <p:cNvSpPr/>
          <p:nvPr/>
        </p:nvSpPr>
        <p:spPr>
          <a:xfrm>
            <a:off x="2705892" y="4066460"/>
            <a:ext cx="74991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대입 성공을 위한 슬기로운 고교선택</a:t>
            </a:r>
          </a:p>
        </p:txBody>
      </p:sp>
    </p:spTree>
    <p:extLst>
      <p:ext uri="{BB962C8B-B14F-4D97-AF65-F5344CB8AC3E}">
        <p14:creationId xmlns:p14="http://schemas.microsoft.com/office/powerpoint/2010/main" val="222509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22ECF9-66FD-4D18-A646-094BF672F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81" y="604949"/>
            <a:ext cx="2788326" cy="975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59C656-E976-4A1B-9F93-F86623374564}"/>
              </a:ext>
            </a:extLst>
          </p:cNvPr>
          <p:cNvSpPr txBox="1"/>
          <p:nvPr/>
        </p:nvSpPr>
        <p:spPr>
          <a:xfrm>
            <a:off x="2860765" y="682582"/>
            <a:ext cx="93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</a:t>
            </a:r>
            <a:r>
              <a:rPr lang="en-US" altLang="ko-KR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프로그램 안내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662AC89-4B4C-4F94-9E75-60990AA0B826}"/>
              </a:ext>
            </a:extLst>
          </p:cNvPr>
          <p:cNvCxnSpPr>
            <a:cxnSpLocks/>
          </p:cNvCxnSpPr>
          <p:nvPr/>
        </p:nvCxnSpPr>
        <p:spPr>
          <a:xfrm>
            <a:off x="0" y="1763486"/>
            <a:ext cx="12192000" cy="0"/>
          </a:xfrm>
          <a:prstGeom prst="line">
            <a:avLst/>
          </a:prstGeom>
          <a:ln w="5715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1ADEBD2-EE3B-431B-9CC6-7638AE6DACA8}"/>
              </a:ext>
            </a:extLst>
          </p:cNvPr>
          <p:cNvSpPr txBox="1"/>
          <p:nvPr/>
        </p:nvSpPr>
        <p:spPr>
          <a:xfrm>
            <a:off x="1724296" y="5342708"/>
            <a:ext cx="9117876" cy="7794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설명회 상세내용</a:t>
            </a:r>
            <a:endParaRPr lang="en-US" altLang="ko-KR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endParaRPr lang="ko-KR" altLang="en-US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1. 5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등급제 평가와 통합 수능 대비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2. </a:t>
            </a:r>
            <a:r>
              <a:rPr lang="ko-KR" altLang="en-US" sz="28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비교과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평가 확대가 대입을 가른다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학교생활기록부 기재 방법 및 시기변경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4.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탐구활동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보고서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독서 기록으로 상위권 목표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6.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슬기로운 학교생활 </a:t>
            </a:r>
            <a:endParaRPr lang="en-US" altLang="ko-KR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7.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질의 응답</a:t>
            </a:r>
          </a:p>
          <a:p>
            <a:pPr>
              <a:lnSpc>
                <a:spcPct val="150000"/>
              </a:lnSpc>
            </a:pPr>
            <a:endParaRPr lang="ko-KR" altLang="en-US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소요시간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60~90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분 내외 </a:t>
            </a:r>
          </a:p>
          <a:p>
            <a:pPr>
              <a:lnSpc>
                <a:spcPct val="150000"/>
              </a:lnSpc>
            </a:pPr>
            <a:endParaRPr lang="ko-KR" altLang="en-US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자료집 제공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탐구보고서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+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독서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+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경쟁력 높이기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48C32-FE24-40D6-B5A8-C53C3121ABC9}"/>
              </a:ext>
            </a:extLst>
          </p:cNvPr>
          <p:cNvSpPr txBox="1"/>
          <p:nvPr/>
        </p:nvSpPr>
        <p:spPr>
          <a:xfrm>
            <a:off x="0" y="2308644"/>
            <a:ext cx="121920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설명회 </a:t>
            </a:r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  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강연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10470F1-7B24-490D-A0F1-D73F17379D27}"/>
              </a:ext>
            </a:extLst>
          </p:cNvPr>
          <p:cNvCxnSpPr>
            <a:cxnSpLocks/>
          </p:cNvCxnSpPr>
          <p:nvPr/>
        </p:nvCxnSpPr>
        <p:spPr>
          <a:xfrm>
            <a:off x="0" y="1763486"/>
            <a:ext cx="12192000" cy="0"/>
          </a:xfrm>
          <a:prstGeom prst="line">
            <a:avLst/>
          </a:prstGeom>
          <a:ln w="5715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F88E518A-1AFC-4933-9521-A03EFAEBE78A}"/>
              </a:ext>
            </a:extLst>
          </p:cNvPr>
          <p:cNvSpPr/>
          <p:nvPr/>
        </p:nvSpPr>
        <p:spPr>
          <a:xfrm rot="5400000">
            <a:off x="731764" y="4010704"/>
            <a:ext cx="1092428" cy="819398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A9B65A-7E5F-44AA-B2B6-5560F559DA3A}"/>
              </a:ext>
            </a:extLst>
          </p:cNvPr>
          <p:cNvSpPr/>
          <p:nvPr/>
        </p:nvSpPr>
        <p:spPr>
          <a:xfrm>
            <a:off x="1792181" y="4066460"/>
            <a:ext cx="93265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대입 경쟁력을 높이는 학교생활기록부 만들기</a:t>
            </a:r>
          </a:p>
        </p:txBody>
      </p:sp>
    </p:spTree>
    <p:extLst>
      <p:ext uri="{BB962C8B-B14F-4D97-AF65-F5344CB8AC3E}">
        <p14:creationId xmlns:p14="http://schemas.microsoft.com/office/powerpoint/2010/main" val="2446633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22ECF9-66FD-4D18-A646-094BF672F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81" y="604949"/>
            <a:ext cx="2788326" cy="975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59C656-E976-4A1B-9F93-F86623374564}"/>
              </a:ext>
            </a:extLst>
          </p:cNvPr>
          <p:cNvSpPr txBox="1"/>
          <p:nvPr/>
        </p:nvSpPr>
        <p:spPr>
          <a:xfrm>
            <a:off x="2860765" y="682582"/>
            <a:ext cx="93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</a:t>
            </a:r>
            <a:r>
              <a:rPr lang="en-US" altLang="ko-KR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프로그램 안내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1C2B3-E60F-4DEB-B7B4-B2EF9EC84939}"/>
              </a:ext>
            </a:extLst>
          </p:cNvPr>
          <p:cNvSpPr txBox="1"/>
          <p:nvPr/>
        </p:nvSpPr>
        <p:spPr>
          <a:xfrm>
            <a:off x="0" y="2662587"/>
            <a:ext cx="121920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 컨설팅</a:t>
            </a:r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프로그램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662AC89-4B4C-4F94-9E75-60990AA0B826}"/>
              </a:ext>
            </a:extLst>
          </p:cNvPr>
          <p:cNvCxnSpPr>
            <a:cxnSpLocks/>
          </p:cNvCxnSpPr>
          <p:nvPr/>
        </p:nvCxnSpPr>
        <p:spPr>
          <a:xfrm>
            <a:off x="0" y="1763486"/>
            <a:ext cx="12192000" cy="0"/>
          </a:xfrm>
          <a:prstGeom prst="line">
            <a:avLst/>
          </a:prstGeom>
          <a:ln w="5715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587FE1B1-C319-4FA1-BBBE-FC448C1D6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300" y="4269573"/>
            <a:ext cx="8123399" cy="108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35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22ECF9-66FD-4D18-A646-094BF672F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81" y="604949"/>
            <a:ext cx="2788326" cy="975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59C656-E976-4A1B-9F93-F86623374564}"/>
              </a:ext>
            </a:extLst>
          </p:cNvPr>
          <p:cNvSpPr txBox="1"/>
          <p:nvPr/>
        </p:nvSpPr>
        <p:spPr>
          <a:xfrm>
            <a:off x="2860765" y="682582"/>
            <a:ext cx="93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</a:t>
            </a:r>
            <a:r>
              <a:rPr lang="en-US" altLang="ko-KR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프로그램 안내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1C2B3-E60F-4DEB-B7B4-B2EF9EC84939}"/>
              </a:ext>
            </a:extLst>
          </p:cNvPr>
          <p:cNvSpPr txBox="1"/>
          <p:nvPr/>
        </p:nvSpPr>
        <p:spPr>
          <a:xfrm>
            <a:off x="0" y="2662587"/>
            <a:ext cx="121920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 컨설팅</a:t>
            </a:r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프로그램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662AC89-4B4C-4F94-9E75-60990AA0B826}"/>
              </a:ext>
            </a:extLst>
          </p:cNvPr>
          <p:cNvCxnSpPr>
            <a:cxnSpLocks/>
          </p:cNvCxnSpPr>
          <p:nvPr/>
        </p:nvCxnSpPr>
        <p:spPr>
          <a:xfrm>
            <a:off x="0" y="1763486"/>
            <a:ext cx="12192000" cy="0"/>
          </a:xfrm>
          <a:prstGeom prst="line">
            <a:avLst/>
          </a:prstGeom>
          <a:ln w="5715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673232-6B6C-4504-B0EC-0AE46445340A}"/>
              </a:ext>
            </a:extLst>
          </p:cNvPr>
          <p:cNvSpPr/>
          <p:nvPr/>
        </p:nvSpPr>
        <p:spPr>
          <a:xfrm>
            <a:off x="2015244" y="5910057"/>
            <a:ext cx="8765177" cy="7148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▽ 고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대입전략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1:1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컨설팅 내용</a:t>
            </a:r>
          </a:p>
          <a:p>
            <a:pPr>
              <a:lnSpc>
                <a:spcPct val="150000"/>
              </a:lnSpc>
            </a:pPr>
            <a:endParaRPr lang="ko-KR" altLang="en-US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1. 2028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대학입시 변경사항 점검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대학입시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수시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정시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전반적 이해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학생부종합전형의 중요성과 ‘</a:t>
            </a:r>
            <a:r>
              <a:rPr lang="ko-KR" altLang="en-US" sz="28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세특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’ 관리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4. 1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학년 전반적 로드맵 및 입시전략 수립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5.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진로 희망분야 설정 및 학생부 항목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6.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배정된 고등학교 특징과 체크사항 확인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7.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통합 수능에 따른 수능 과목 선택 및 탐구 선택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8. </a:t>
            </a:r>
            <a:r>
              <a:rPr lang="ko-KR" altLang="en-US" sz="28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예비고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체크사항과 학부모 당부사항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9.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학생 체크사항 및 학부모 당부사항</a:t>
            </a:r>
          </a:p>
        </p:txBody>
      </p:sp>
    </p:spTree>
    <p:extLst>
      <p:ext uri="{BB962C8B-B14F-4D97-AF65-F5344CB8AC3E}">
        <p14:creationId xmlns:p14="http://schemas.microsoft.com/office/powerpoint/2010/main" val="1853728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22ECF9-66FD-4D18-A646-094BF672F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81" y="604949"/>
            <a:ext cx="2788326" cy="975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59C656-E976-4A1B-9F93-F86623374564}"/>
              </a:ext>
            </a:extLst>
          </p:cNvPr>
          <p:cNvSpPr txBox="1"/>
          <p:nvPr/>
        </p:nvSpPr>
        <p:spPr>
          <a:xfrm>
            <a:off x="2860765" y="682582"/>
            <a:ext cx="93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</a:t>
            </a:r>
            <a:r>
              <a:rPr lang="en-US" altLang="ko-KR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프로그램 안내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1C2B3-E60F-4DEB-B7B4-B2EF9EC84939}"/>
              </a:ext>
            </a:extLst>
          </p:cNvPr>
          <p:cNvSpPr txBox="1"/>
          <p:nvPr/>
        </p:nvSpPr>
        <p:spPr>
          <a:xfrm>
            <a:off x="0" y="2662587"/>
            <a:ext cx="121920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 컨설팅</a:t>
            </a:r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프로그램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662AC89-4B4C-4F94-9E75-60990AA0B826}"/>
              </a:ext>
            </a:extLst>
          </p:cNvPr>
          <p:cNvCxnSpPr>
            <a:cxnSpLocks/>
          </p:cNvCxnSpPr>
          <p:nvPr/>
        </p:nvCxnSpPr>
        <p:spPr>
          <a:xfrm>
            <a:off x="0" y="1763486"/>
            <a:ext cx="12192000" cy="0"/>
          </a:xfrm>
          <a:prstGeom prst="line">
            <a:avLst/>
          </a:prstGeom>
          <a:ln w="5715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673232-6B6C-4504-B0EC-0AE46445340A}"/>
              </a:ext>
            </a:extLst>
          </p:cNvPr>
          <p:cNvSpPr/>
          <p:nvPr/>
        </p:nvSpPr>
        <p:spPr>
          <a:xfrm>
            <a:off x="1806238" y="5152412"/>
            <a:ext cx="8765177" cy="7794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o-KR" altLang="en-US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▽ 고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대입전략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1:1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컨설팅 내용</a:t>
            </a:r>
          </a:p>
          <a:p>
            <a:pPr>
              <a:lnSpc>
                <a:spcPct val="150000"/>
              </a:lnSpc>
            </a:pPr>
            <a:endParaRPr lang="ko-KR" altLang="en-US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1. 2027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 변경 사항 및 수시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정시 특징 이해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2. 1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학년 모의고사 기준 정시 지원 가능 대학 분석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3. 1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학년 학생부 교과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28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비교과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기준 수시 가능 대학 확인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4. 1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학년 학생부 과목별 </a:t>
            </a:r>
            <a:r>
              <a:rPr lang="ko-KR" altLang="en-US" sz="28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세특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분석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보완사항 체크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5. 1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학년 학생부 기준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학년 과목별 자기평가서 방향 제시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6. 2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학년 연계과목 </a:t>
            </a:r>
            <a:r>
              <a:rPr lang="ko-KR" altLang="en-US" sz="28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세특을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위한 후속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연계 활동 계획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7.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자기소개서 폐지와 면접 준비 위한 학생 체크 사항 제시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8. 1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학년 학생부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모의고사 기준 수시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정시 방향 정립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9.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학생 체크사항 및 학부모 당부사항</a:t>
            </a:r>
          </a:p>
        </p:txBody>
      </p:sp>
    </p:spTree>
    <p:extLst>
      <p:ext uri="{BB962C8B-B14F-4D97-AF65-F5344CB8AC3E}">
        <p14:creationId xmlns:p14="http://schemas.microsoft.com/office/powerpoint/2010/main" val="3925264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22ECF9-66FD-4D18-A646-094BF672F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81" y="604949"/>
            <a:ext cx="2788326" cy="975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59C656-E976-4A1B-9F93-F86623374564}"/>
              </a:ext>
            </a:extLst>
          </p:cNvPr>
          <p:cNvSpPr txBox="1"/>
          <p:nvPr/>
        </p:nvSpPr>
        <p:spPr>
          <a:xfrm>
            <a:off x="2860765" y="682582"/>
            <a:ext cx="93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</a:t>
            </a:r>
            <a:r>
              <a:rPr lang="en-US" altLang="ko-KR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프로그램 안내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1C2B3-E60F-4DEB-B7B4-B2EF9EC84939}"/>
              </a:ext>
            </a:extLst>
          </p:cNvPr>
          <p:cNvSpPr txBox="1"/>
          <p:nvPr/>
        </p:nvSpPr>
        <p:spPr>
          <a:xfrm>
            <a:off x="0" y="2662587"/>
            <a:ext cx="121920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 컨설팅</a:t>
            </a:r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프로그램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662AC89-4B4C-4F94-9E75-60990AA0B826}"/>
              </a:ext>
            </a:extLst>
          </p:cNvPr>
          <p:cNvCxnSpPr>
            <a:cxnSpLocks/>
          </p:cNvCxnSpPr>
          <p:nvPr/>
        </p:nvCxnSpPr>
        <p:spPr>
          <a:xfrm>
            <a:off x="0" y="1763486"/>
            <a:ext cx="12192000" cy="0"/>
          </a:xfrm>
          <a:prstGeom prst="line">
            <a:avLst/>
          </a:prstGeom>
          <a:ln w="5715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7A42CFF1-5747-4136-860C-DF4EDA919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567" y="3929939"/>
            <a:ext cx="8821397" cy="1144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019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plane holiday travel illustration">
            <a:extLst>
              <a:ext uri="{FF2B5EF4-FFF2-40B4-BE49-F238E27FC236}">
                <a16:creationId xmlns:a16="http://schemas.microsoft.com/office/drawing/2014/main" id="{CFD8E283-8822-44A5-800A-F46AB3FCF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47" y="165956"/>
            <a:ext cx="11859905" cy="1592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777FAF-A700-4D2C-B3D4-511C998C6890}"/>
              </a:ext>
            </a:extLst>
          </p:cNvPr>
          <p:cNvSpPr txBox="1"/>
          <p:nvPr/>
        </p:nvSpPr>
        <p:spPr>
          <a:xfrm>
            <a:off x="1132765" y="677616"/>
            <a:ext cx="102904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err="1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수프리마</a:t>
            </a:r>
            <a:r>
              <a:rPr lang="ko-KR" altLang="en-US" sz="60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 대학입시 컨설팅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02FC1DE-F71B-4683-8572-5736CBDB722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538" y="1448471"/>
            <a:ext cx="4479433" cy="469763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058364-152B-4C4B-BDF5-D3C46A4BFCF9}"/>
              </a:ext>
            </a:extLst>
          </p:cNvPr>
          <p:cNvSpPr/>
          <p:nvPr/>
        </p:nvSpPr>
        <p:spPr>
          <a:xfrm>
            <a:off x="3231294" y="2212726"/>
            <a:ext cx="7393585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24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현</a:t>
            </a:r>
            <a:r>
              <a:rPr lang="en-US" altLang="ko-KR" sz="24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r>
              <a:rPr lang="ko-KR" altLang="en-US" sz="2400" dirty="0" err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수프리마</a:t>
            </a:r>
            <a:r>
              <a:rPr lang="ko-KR" altLang="en-US" sz="24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입시연구소 소장</a:t>
            </a:r>
            <a:endParaRPr lang="en-US" altLang="ko-KR" sz="24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현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네이버 엑스퍼트 입시부문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r"/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현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수프리마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입시센터 밴드 운영자</a:t>
            </a: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     현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특성화고 특별한아이들 밴드 공동운영자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전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대치 명인학원 입시연구소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전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이투스교육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마케팅 총괄 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전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두산동아 마케팅 과장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r"/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고등학교 설명회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입시상담 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50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여 학교 출강</a:t>
            </a: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     진로진학네트워크 상임대표</a:t>
            </a: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   한양대학교 경제학과 졸업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이화여대 의예과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/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경희대 한의예과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r"/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건국대 수의학과 등 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r"/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연 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150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명 이상 다수 지도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1C60AD-6776-4462-93FD-C59B650C1868}"/>
              </a:ext>
            </a:extLst>
          </p:cNvPr>
          <p:cNvSpPr/>
          <p:nvPr/>
        </p:nvSpPr>
        <p:spPr>
          <a:xfrm>
            <a:off x="1581077" y="6185062"/>
            <a:ext cx="563308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수프리마</a:t>
            </a:r>
            <a:r>
              <a:rPr lang="ko-KR" altLang="en-US" sz="2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입시</a:t>
            </a:r>
            <a:r>
              <a:rPr lang="en-US" altLang="ko-KR" sz="2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2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코칭센터</a:t>
            </a:r>
            <a:r>
              <a:rPr lang="ko-KR" altLang="en-US" sz="2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endParaRPr lang="en-US" altLang="ko-KR" sz="2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ctr"/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   기   욱 </a:t>
            </a: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대표 컨설턴트</a:t>
            </a:r>
            <a:endParaRPr lang="en-US" altLang="ko-KR" sz="20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3" name="순서도: 대체 처리 22">
            <a:extLst>
              <a:ext uri="{FF2B5EF4-FFF2-40B4-BE49-F238E27FC236}">
                <a16:creationId xmlns:a16="http://schemas.microsoft.com/office/drawing/2014/main" id="{4AC5031C-3A88-476C-8AC2-880BC5301B21}"/>
              </a:ext>
            </a:extLst>
          </p:cNvPr>
          <p:cNvSpPr/>
          <p:nvPr/>
        </p:nvSpPr>
        <p:spPr>
          <a:xfrm>
            <a:off x="2146810" y="7116572"/>
            <a:ext cx="1364775" cy="2275576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컨설팅 특장점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24490B-D3EE-4294-826C-32B8D6AC9190}"/>
              </a:ext>
            </a:extLst>
          </p:cNvPr>
          <p:cNvSpPr txBox="1"/>
          <p:nvPr/>
        </p:nvSpPr>
        <p:spPr>
          <a:xfrm>
            <a:off x="3634330" y="7037575"/>
            <a:ext cx="7788847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학생부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모의고사 성적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학교유형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등 고려한 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개인별 맞춤 입시전략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제시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안정지원은 물론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상향지원까지 고려한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지원 가능학교 선정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대학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전형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학과 등 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합리적인 선택을 위한 대안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제시</a:t>
            </a:r>
            <a:endParaRPr lang="en-US" altLang="ko-KR" sz="2000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년간의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입결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합불사럐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및 숨어있는 </a:t>
            </a:r>
            <a:r>
              <a:rPr lang="ko-KR" altLang="en-US" sz="2000" dirty="0" err="1">
                <a:solidFill>
                  <a:schemeClr val="accent2">
                    <a:lumMod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통걔항목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분석을 통한 </a:t>
            </a:r>
            <a:r>
              <a:rPr lang="ko-KR" altLang="en-US" sz="2000" dirty="0" err="1">
                <a:solidFill>
                  <a:schemeClr val="accent2">
                    <a:lumMod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최적안</a:t>
            </a:r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제시</a:t>
            </a:r>
            <a:endParaRPr lang="en-US" altLang="ko-KR" sz="2000" dirty="0">
              <a:solidFill>
                <a:schemeClr val="accent2">
                  <a:lumMod val="7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수시 지원 최종 학교 선정</a:t>
            </a:r>
            <a:r>
              <a:rPr lang="en-US" altLang="ko-KR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지원 실제 등  서포트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FC17B1-77F5-46B9-A6F3-4E19BE7AA77E}"/>
              </a:ext>
            </a:extLst>
          </p:cNvPr>
          <p:cNvSpPr txBox="1"/>
          <p:nvPr/>
        </p:nvSpPr>
        <p:spPr>
          <a:xfrm>
            <a:off x="6277971" y="13749888"/>
            <a:ext cx="50944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입시</a:t>
            </a:r>
            <a:r>
              <a:rPr lang="en-US" altLang="ko-KR" sz="4400" dirty="0"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&amp;</a:t>
            </a:r>
            <a:r>
              <a:rPr lang="ko-KR" altLang="en-US" sz="4400" dirty="0" err="1"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코칭센터</a:t>
            </a:r>
            <a:endParaRPr lang="ko-KR" altLang="en-US" sz="4400" dirty="0"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58AED5-87CA-4726-BFD7-61FD39B9471A}"/>
              </a:ext>
            </a:extLst>
          </p:cNvPr>
          <p:cNvSpPr/>
          <p:nvPr/>
        </p:nvSpPr>
        <p:spPr>
          <a:xfrm>
            <a:off x="2303368" y="14893040"/>
            <a:ext cx="8584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b="1" dirty="0" err="1">
                <a:solidFill>
                  <a:srgbClr val="333333"/>
                </a:solidFill>
                <a:latin typeface="나눔고딕"/>
              </a:rPr>
              <a:t>에듀탑</a:t>
            </a:r>
            <a:r>
              <a:rPr lang="ko-KR" altLang="en-US" b="1" dirty="0">
                <a:solidFill>
                  <a:srgbClr val="333333"/>
                </a:solidFill>
                <a:latin typeface="나눔고딕"/>
              </a:rPr>
              <a:t> </a:t>
            </a:r>
            <a:r>
              <a:rPr lang="en-US" altLang="ko-KR" b="1" dirty="0">
                <a:solidFill>
                  <a:srgbClr val="333333"/>
                </a:solidFill>
                <a:latin typeface="나눔고딕"/>
              </a:rPr>
              <a:t>/  </a:t>
            </a:r>
            <a:r>
              <a:rPr lang="ko-KR" altLang="en-US" b="1" dirty="0">
                <a:solidFill>
                  <a:srgbClr val="333333"/>
                </a:solidFill>
                <a:latin typeface="나눔고딕"/>
              </a:rPr>
              <a:t>대표 </a:t>
            </a:r>
            <a:r>
              <a:rPr lang="en-US" altLang="ko-KR" b="1" dirty="0">
                <a:solidFill>
                  <a:srgbClr val="333333"/>
                </a:solidFill>
                <a:latin typeface="나눔고딕"/>
              </a:rPr>
              <a:t>: </a:t>
            </a:r>
            <a:r>
              <a:rPr lang="ko-KR" altLang="en-US" b="1" dirty="0" err="1">
                <a:solidFill>
                  <a:srgbClr val="333333"/>
                </a:solidFill>
                <a:latin typeface="나눔고딕"/>
              </a:rPr>
              <a:t>문창배</a:t>
            </a:r>
            <a:r>
              <a:rPr lang="ko-KR" altLang="en-US" b="1" dirty="0">
                <a:solidFill>
                  <a:srgbClr val="333333"/>
                </a:solidFill>
                <a:latin typeface="나눔고딕"/>
              </a:rPr>
              <a:t> </a:t>
            </a:r>
            <a:r>
              <a:rPr lang="en-US" altLang="ko-KR" b="1" dirty="0">
                <a:solidFill>
                  <a:srgbClr val="333333"/>
                </a:solidFill>
                <a:latin typeface="나눔고딕"/>
              </a:rPr>
              <a:t>/ </a:t>
            </a:r>
            <a:r>
              <a:rPr lang="ko-KR" altLang="en-US" b="1" dirty="0">
                <a:solidFill>
                  <a:srgbClr val="333333"/>
                </a:solidFill>
                <a:latin typeface="나눔고딕"/>
              </a:rPr>
              <a:t>연락처 </a:t>
            </a:r>
            <a:r>
              <a:rPr lang="en-US" altLang="ko-KR" b="1" dirty="0">
                <a:solidFill>
                  <a:srgbClr val="333333"/>
                </a:solidFill>
                <a:latin typeface="나눔고딕"/>
              </a:rPr>
              <a:t>: 02)1833-5715 / </a:t>
            </a:r>
            <a:r>
              <a:rPr lang="ko-KR" altLang="en-US" b="1" dirty="0">
                <a:solidFill>
                  <a:srgbClr val="333333"/>
                </a:solidFill>
                <a:latin typeface="나눔고딕"/>
              </a:rPr>
              <a:t>팩스번호 </a:t>
            </a:r>
            <a:r>
              <a:rPr lang="en-US" altLang="ko-KR" b="1" dirty="0">
                <a:solidFill>
                  <a:srgbClr val="333333"/>
                </a:solidFill>
                <a:latin typeface="나눔고딕"/>
              </a:rPr>
              <a:t>: 070-4887-2439</a:t>
            </a:r>
            <a:endParaRPr lang="ko-KR" altLang="en-US" b="1" dirty="0">
              <a:solidFill>
                <a:srgbClr val="333333"/>
              </a:solidFill>
              <a:latin typeface="나눔고딕"/>
            </a:endParaRPr>
          </a:p>
          <a:p>
            <a:pPr algn="ctr"/>
            <a:r>
              <a:rPr lang="ko-KR" altLang="en-US" b="1" dirty="0">
                <a:solidFill>
                  <a:srgbClr val="333333"/>
                </a:solidFill>
                <a:latin typeface="나눔고딕"/>
              </a:rPr>
              <a:t>주소 </a:t>
            </a:r>
            <a:r>
              <a:rPr lang="en-US" altLang="ko-KR" b="1" dirty="0">
                <a:solidFill>
                  <a:srgbClr val="333333"/>
                </a:solidFill>
                <a:latin typeface="나눔고딕"/>
              </a:rPr>
              <a:t>: </a:t>
            </a:r>
            <a:r>
              <a:rPr lang="ko-KR" altLang="en-US" b="1" dirty="0">
                <a:solidFill>
                  <a:srgbClr val="333333"/>
                </a:solidFill>
                <a:latin typeface="나눔고딕"/>
              </a:rPr>
              <a:t>서울 마포구 양화로 </a:t>
            </a:r>
            <a:r>
              <a:rPr lang="en-US" altLang="ko-KR" b="1" dirty="0">
                <a:solidFill>
                  <a:srgbClr val="333333"/>
                </a:solidFill>
                <a:latin typeface="나눔고딕"/>
              </a:rPr>
              <a:t>105 </a:t>
            </a:r>
            <a:r>
              <a:rPr lang="ko-KR" altLang="en-US" b="1" dirty="0">
                <a:solidFill>
                  <a:srgbClr val="333333"/>
                </a:solidFill>
                <a:latin typeface="나눔고딕"/>
              </a:rPr>
              <a:t>동원빌딩 </a:t>
            </a:r>
            <a:r>
              <a:rPr lang="en-US" altLang="ko-KR" b="1" dirty="0">
                <a:solidFill>
                  <a:srgbClr val="333333"/>
                </a:solidFill>
                <a:latin typeface="나눔고딕"/>
              </a:rPr>
              <a:t>5</a:t>
            </a:r>
            <a:r>
              <a:rPr lang="ko-KR" altLang="en-US" b="1" dirty="0">
                <a:solidFill>
                  <a:srgbClr val="333333"/>
                </a:solidFill>
                <a:latin typeface="나눔고딕"/>
              </a:rPr>
              <a:t>층  </a:t>
            </a:r>
            <a:r>
              <a:rPr lang="en-US" altLang="ko-KR" b="1" dirty="0">
                <a:solidFill>
                  <a:srgbClr val="333333"/>
                </a:solidFill>
                <a:latin typeface="나눔고딕"/>
              </a:rPr>
              <a:t>/  </a:t>
            </a:r>
            <a:r>
              <a:rPr lang="ko-KR" altLang="en-US" b="1" dirty="0">
                <a:solidFill>
                  <a:srgbClr val="333333"/>
                </a:solidFill>
                <a:latin typeface="나눔고딕"/>
              </a:rPr>
              <a:t>사업자등록번호 </a:t>
            </a:r>
            <a:r>
              <a:rPr lang="en-US" altLang="ko-KR" b="1" dirty="0">
                <a:solidFill>
                  <a:srgbClr val="333333"/>
                </a:solidFill>
                <a:latin typeface="나눔고딕"/>
              </a:rPr>
              <a:t>: 808-88-0017</a:t>
            </a:r>
            <a:endParaRPr lang="ko-KR" altLang="en-US" b="1" i="0" dirty="0">
              <a:solidFill>
                <a:srgbClr val="333333"/>
              </a:solidFill>
              <a:effectLst/>
              <a:latin typeface="나눔고딕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88D6F5-51A2-4A2A-AED1-AC68F2E8B05D}"/>
              </a:ext>
            </a:extLst>
          </p:cNvPr>
          <p:cNvSpPr/>
          <p:nvPr/>
        </p:nvSpPr>
        <p:spPr>
          <a:xfrm>
            <a:off x="2289987" y="9641300"/>
            <a:ext cx="9735965" cy="379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신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서울대 조선해양공학과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					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강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서울대 의류학과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민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서울대 생물교육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						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연세대 </a:t>
            </a: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사회환경시스템공학부</a:t>
            </a:r>
            <a:endParaRPr lang="ko-KR" altLang="en-US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성균관대 에너지공학과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					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남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성균관대 물리학과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강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중앙대 도시계획부동산학과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				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박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경희대 글로벌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Hospitality-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관광학과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이화여대 불어불문학과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					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조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국민대 기계공학부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숭실대 신소재공학과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					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허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광운대 경영학과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임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가천대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토목공학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						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관동대 의대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한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가톨릭대 간호학과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						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세종대 인공지능데이터 </a:t>
            </a: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사이언스학과</a:t>
            </a:r>
            <a:endParaRPr lang="ko-KR" altLang="en-US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상명대 자유전공학부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					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임</a:t>
            </a:r>
            <a:r>
              <a:rPr lang="en-US" altLang="ko-KR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한체대 노인체육복지학과</a:t>
            </a:r>
          </a:p>
        </p:txBody>
      </p:sp>
    </p:spTree>
    <p:extLst>
      <p:ext uri="{BB962C8B-B14F-4D97-AF65-F5344CB8AC3E}">
        <p14:creationId xmlns:p14="http://schemas.microsoft.com/office/powerpoint/2010/main" val="219876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22ECF9-66FD-4D18-A646-094BF672F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81" y="604949"/>
            <a:ext cx="2788326" cy="975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59C656-E976-4A1B-9F93-F86623374564}"/>
              </a:ext>
            </a:extLst>
          </p:cNvPr>
          <p:cNvSpPr txBox="1"/>
          <p:nvPr/>
        </p:nvSpPr>
        <p:spPr>
          <a:xfrm>
            <a:off x="2860765" y="682582"/>
            <a:ext cx="93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</a:t>
            </a:r>
            <a:r>
              <a:rPr lang="en-US" altLang="ko-KR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프로그램 안내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1C2B3-E60F-4DEB-B7B4-B2EF9EC84939}"/>
              </a:ext>
            </a:extLst>
          </p:cNvPr>
          <p:cNvSpPr txBox="1"/>
          <p:nvPr/>
        </p:nvSpPr>
        <p:spPr>
          <a:xfrm>
            <a:off x="0" y="2662587"/>
            <a:ext cx="121920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수프리마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입시</a:t>
            </a:r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소개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662AC89-4B4C-4F94-9E75-60990AA0B826}"/>
              </a:ext>
            </a:extLst>
          </p:cNvPr>
          <p:cNvCxnSpPr>
            <a:cxnSpLocks/>
          </p:cNvCxnSpPr>
          <p:nvPr/>
        </p:nvCxnSpPr>
        <p:spPr>
          <a:xfrm>
            <a:off x="0" y="1763486"/>
            <a:ext cx="12192000" cy="0"/>
          </a:xfrm>
          <a:prstGeom prst="line">
            <a:avLst/>
          </a:prstGeom>
          <a:ln w="5715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F0328A9-BDCA-497C-A575-E77747B4C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280" y="4076816"/>
            <a:ext cx="4663439" cy="16322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4ABEA6-744B-48DB-923A-8EDB5CE0E495}"/>
              </a:ext>
            </a:extLst>
          </p:cNvPr>
          <p:cNvSpPr txBox="1"/>
          <p:nvPr/>
        </p:nvSpPr>
        <p:spPr>
          <a:xfrm>
            <a:off x="1245327" y="6689840"/>
            <a:ext cx="10398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2025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학년도 입시실적 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&lt;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컨설팅 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+ </a:t>
            </a:r>
            <a:r>
              <a:rPr lang="ko-KR" altLang="en-US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연간관리 등 포함</a:t>
            </a:r>
            <a:r>
              <a:rPr lang="en-US" altLang="ko-KR" sz="28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&gt;</a:t>
            </a:r>
            <a:endParaRPr lang="ko-KR" altLang="en-US" sz="28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56A496-B2C8-4DBD-83BA-8F2FD081C96C}"/>
              </a:ext>
            </a:extLst>
          </p:cNvPr>
          <p:cNvSpPr/>
          <p:nvPr/>
        </p:nvSpPr>
        <p:spPr>
          <a:xfrm>
            <a:off x="1493522" y="8048535"/>
            <a:ext cx="4976948" cy="4208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신승재</a:t>
            </a: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서울대 조선해양공학과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강문비</a:t>
            </a: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서울대 의류학과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민정우</a:t>
            </a: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서울대 생물교육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김서현 연세대 </a:t>
            </a:r>
            <a:r>
              <a:rPr lang="ko-KR" altLang="en-US" sz="20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사회환경시스템공학부</a:t>
            </a:r>
            <a:endParaRPr lang="ko-KR" altLang="en-US" sz="20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이승현 성균관대 에너지공학과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남해슬</a:t>
            </a: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성균관대 물리학과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강은솔</a:t>
            </a: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중앙대 도시계획부동산학과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박성원 경희대 글로벌</a:t>
            </a:r>
            <a:r>
              <a:rPr lang="en-US" altLang="ko-KR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Hospitality-</a:t>
            </a: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관광학과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김은지 이화여대 불어불문학과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B7CC19-ABCB-4FF6-95C4-645EF742E39B}"/>
              </a:ext>
            </a:extLst>
          </p:cNvPr>
          <p:cNvSpPr/>
          <p:nvPr/>
        </p:nvSpPr>
        <p:spPr>
          <a:xfrm>
            <a:off x="6653349" y="8048535"/>
            <a:ext cx="5538651" cy="379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이채민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숭실대 신소재공학과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조용준 국민대 기계공학부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허정민 광운대 경영학과</a:t>
            </a:r>
          </a:p>
          <a:p>
            <a:pPr>
              <a:lnSpc>
                <a:spcPct val="150000"/>
              </a:lnSpc>
            </a:pP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임윤영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가천대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토목공학과</a:t>
            </a:r>
          </a:p>
          <a:p>
            <a:pPr>
              <a:lnSpc>
                <a:spcPct val="150000"/>
              </a:lnSpc>
            </a:pP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이은교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관동대 의대</a:t>
            </a:r>
          </a:p>
          <a:p>
            <a:pPr>
              <a:lnSpc>
                <a:spcPct val="150000"/>
              </a:lnSpc>
            </a:pP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한이경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가톨릭대 간호학과</a:t>
            </a:r>
          </a:p>
          <a:p>
            <a:pPr>
              <a:lnSpc>
                <a:spcPct val="150000"/>
              </a:lnSpc>
            </a:pP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김단아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세종대 인공지능데이터 </a:t>
            </a: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사이언스학과</a:t>
            </a:r>
            <a:endParaRPr lang="ko-KR" altLang="en-US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김선재</a:t>
            </a: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상명대 자유전공학부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임정빈 한체대 노인체육복지학과</a:t>
            </a:r>
          </a:p>
        </p:txBody>
      </p:sp>
    </p:spTree>
    <p:extLst>
      <p:ext uri="{BB962C8B-B14F-4D97-AF65-F5344CB8AC3E}">
        <p14:creationId xmlns:p14="http://schemas.microsoft.com/office/powerpoint/2010/main" val="2177126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A22ECF9-66FD-4D18-A646-094BF672F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81" y="604949"/>
            <a:ext cx="2788326" cy="975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59C656-E976-4A1B-9F93-F86623374564}"/>
              </a:ext>
            </a:extLst>
          </p:cNvPr>
          <p:cNvSpPr txBox="1"/>
          <p:nvPr/>
        </p:nvSpPr>
        <p:spPr>
          <a:xfrm>
            <a:off x="2860765" y="682582"/>
            <a:ext cx="93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</a:t>
            </a:r>
            <a:r>
              <a:rPr lang="en-US" altLang="ko-KR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b="1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프로그램 안내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1C2B3-E60F-4DEB-B7B4-B2EF9EC84939}"/>
              </a:ext>
            </a:extLst>
          </p:cNvPr>
          <p:cNvSpPr txBox="1"/>
          <p:nvPr/>
        </p:nvSpPr>
        <p:spPr>
          <a:xfrm>
            <a:off x="0" y="2662587"/>
            <a:ext cx="12192000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수프리마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입시</a:t>
            </a:r>
            <a:r>
              <a:rPr lang="en-US" altLang="ko-KR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40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코칭 센터 소개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662AC89-4B4C-4F94-9E75-60990AA0B826}"/>
              </a:ext>
            </a:extLst>
          </p:cNvPr>
          <p:cNvCxnSpPr>
            <a:cxnSpLocks/>
          </p:cNvCxnSpPr>
          <p:nvPr/>
        </p:nvCxnSpPr>
        <p:spPr>
          <a:xfrm>
            <a:off x="0" y="1763486"/>
            <a:ext cx="12192000" cy="0"/>
          </a:xfrm>
          <a:prstGeom prst="line">
            <a:avLst/>
          </a:prstGeom>
          <a:ln w="57150">
            <a:solidFill>
              <a:srgbClr val="0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F0328A9-BDCA-497C-A575-E77747B4C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280" y="4076816"/>
            <a:ext cx="4663439" cy="163220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0E82F7-6FC2-4987-9A82-5896EEEEC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702" y="6321419"/>
            <a:ext cx="10210595" cy="508245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895634-F71E-4DA9-AA35-9BD5D1C4F860}"/>
              </a:ext>
            </a:extLst>
          </p:cNvPr>
          <p:cNvSpPr/>
          <p:nvPr/>
        </p:nvSpPr>
        <p:spPr>
          <a:xfrm>
            <a:off x="2564674" y="11581519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2021~24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학년도 입시 지도결과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*서울 중심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의치한으로 한정합니다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  <a:p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*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기타 지역거점대학 등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60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여명 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*기준은 연간관리 상품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입시컨설팅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면접지도 등 통해 직접 완성한 학생 기준입니다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  <a:p>
            <a:endParaRPr lang="en-US" altLang="ko-KR" sz="1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황아현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연대 교육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장윤호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고대 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영교과</a:t>
            </a:r>
            <a:endParaRPr lang="ko-KR" altLang="en-US" sz="1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송나은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고려대 불어불문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김재웅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서울교대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김현기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가톨릭관동대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의대</a:t>
            </a: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권순찬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한양대 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미자공</a:t>
            </a:r>
            <a:endParaRPr lang="ko-KR" altLang="en-US" sz="1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권순찬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건국대 수의대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김시우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경희대 간호</a:t>
            </a: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이초원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한양대 생명공학</a:t>
            </a: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박인성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인하대 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컴공</a:t>
            </a:r>
            <a:endParaRPr lang="ko-KR" altLang="en-US" sz="1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이세하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경인교대</a:t>
            </a: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신종현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홍익대 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컴공</a:t>
            </a:r>
            <a:endParaRPr lang="ko-KR" altLang="en-US" sz="1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강구환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경희대 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디지털컨텐츠</a:t>
            </a:r>
            <a:endParaRPr lang="ko-KR" altLang="en-US" sz="1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박규원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가천대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조경</a:t>
            </a:r>
          </a:p>
          <a:p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원희진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_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가톨릭 사회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88E6DB-579D-43A8-A414-091B1F3B0158}"/>
              </a:ext>
            </a:extLst>
          </p:cNvPr>
          <p:cNvSpPr/>
          <p:nvPr/>
        </p:nvSpPr>
        <p:spPr>
          <a:xfrm>
            <a:off x="6311535" y="12680318"/>
            <a:ext cx="389055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하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경희대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체육학과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유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동국대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경영학과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건국대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컴퓨터공학과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강원대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기계공학과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국민대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법학부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단국대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경영학과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류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동국대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건축학과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송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가톨릭대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컴공</a:t>
            </a:r>
            <a:endParaRPr lang="ko-KR" altLang="en-US" sz="1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임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숙명여대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경영학과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정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숙명여대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미디어학부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진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한국공대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 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컴공</a:t>
            </a:r>
            <a:endParaRPr lang="ko-KR" altLang="en-US" sz="1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동국대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소프트웨어</a:t>
            </a:r>
          </a:p>
          <a:p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김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00 –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경희대 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- 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한의예과</a:t>
            </a:r>
          </a:p>
        </p:txBody>
      </p:sp>
    </p:spTree>
    <p:extLst>
      <p:ext uri="{BB962C8B-B14F-4D97-AF65-F5344CB8AC3E}">
        <p14:creationId xmlns:p14="http://schemas.microsoft.com/office/powerpoint/2010/main" val="4100620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961</Words>
  <Application>Microsoft Office PowerPoint</Application>
  <PresentationFormat>사용자 지정</PresentationFormat>
  <Paragraphs>158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KT&amp;G 상상제목 B</vt:lpstr>
      <vt:lpstr>나눔고딕</vt:lpstr>
      <vt:lpstr>나눔고딕OTF ExtraBold</vt:lpstr>
      <vt:lpstr>나눔바른고딕OTF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kiwook Lee</dc:creator>
  <cp:lastModifiedBy>kiwook Lee</cp:lastModifiedBy>
  <cp:revision>10</cp:revision>
  <dcterms:created xsi:type="dcterms:W3CDTF">2025-07-16T03:52:27Z</dcterms:created>
  <dcterms:modified xsi:type="dcterms:W3CDTF">2025-07-16T05:25:34Z</dcterms:modified>
</cp:coreProperties>
</file>